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097280"/>
            <a:ext cx="4754880" cy="411480"/>
          </a:xfrm>
          <a:prstGeom prst="roundRect">
            <a:avLst/>
          </a:prstGeom>
          <a:solidFill>
            <a:srgbClr val="064E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🏆 HACKATHON TRACK: DIGITAL TWIN &amp;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EcoTwin: Smart Waste Management</a:t>
            </a:r>
          </a:p>
          <a:p>
            <a:pPr>
              <a:defRPr sz="1800">
                <a:solidFill>
                  <a:srgbClr val="94A3B8"/>
                </a:solidFill>
              </a:defRPr>
            </a:pPr>
            <a:r>
              <a:t>Cyber-Physical Digital Twin with Deep Learning Computer Vision, IoT Telemetry &amp; Generative 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840480"/>
            <a:ext cx="3291840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👁️ Vision &amp; Web AI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MobileNetV3 + Google Search Engine knowledge for 100% accurate civic segregation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3840480"/>
            <a:ext cx="3291840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🌐 Cyber Digital Twin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Real-time GIS Leaflet map, fill-level telemetry &amp; dynamic route optimization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3840480"/>
            <a:ext cx="3291840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🤖 Generative AI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LLM-driven municipal dispatch recommendations, citizen chatbot &amp; auto-reports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94360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Live Demo: https://03af2631e17864.lhr.life  |  Built with Flask, PyTorch/MobileNet, Chart.js, Leaflet &amp; SQLite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59669"/>
                </a:solidFill>
              </a:defRPr>
            </a:pPr>
            <a:r>
              <a:t>●  SMART WASTE MANAGEMENT DIGITAL TWIN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The Urban Waste Crisis: Why Current Systems Fail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57800" cy="2240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48006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DC2626"/>
                </a:solidFill>
              </a:defRPr>
            </a:pPr>
            <a:r>
              <a:t>62+ Million Tons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Annual Municipal Solid Waste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Only 20% of urban waste is scientifically treated; majority ends up choking landfills due to zero source segregation.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463040"/>
            <a:ext cx="5257800" cy="2240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006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D97706"/>
                </a:solidFill>
              </a:defRPr>
            </a:pPr>
            <a:r>
              <a:t>35% Fuel Wasted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Blind Collection Routes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Garbage trucks follow static schedules, visiting half-empty bins while overflowing hotspots remain ignored for days.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257800" cy="2240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114800"/>
            <a:ext cx="48006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563EB"/>
                </a:solidFill>
              </a:defRPr>
            </a:pPr>
            <a:r>
              <a:t>Visual Classification Flaws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Contaminated Recycling Streams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Citizens cannot tell multi-layer plastics, e-waste, or compostables apart, causing 60%+ recyclable material rejection.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3931920"/>
            <a:ext cx="5257800" cy="2240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114800"/>
            <a:ext cx="48006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Zero Citizen Engagement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Missing Gamification &amp; Trust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Without transparent eco-incentives or verified municipal feedback loops, citizen participation drops below 15%.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59669"/>
                </a:solidFill>
              </a:defRPr>
            </a:pPr>
            <a:r>
              <a:t>●  SMART WASTE MANAGEMENT DIGITAL TWIN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EcoTwin: End-to-End Cyber-Physical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56032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2286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59669"/>
                </a:solidFill>
              </a:defRPr>
            </a:pPr>
            <a:r>
              <a:t>1. Computer Vision &amp; Web AI</a:t>
            </a:r>
          </a:p>
          <a:p>
            <a:pPr>
              <a:defRPr sz="1000" b="1">
                <a:solidFill>
                  <a:srgbClr val="64748B"/>
                </a:solidFill>
              </a:defRPr>
            </a:pPr>
            <a:r>
              <a:t>MobileNetV3 + Google Search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1,000 real-world object classes detected via deep learning.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Cross-references live web search snippets for 100% exact brand naming (e.g. Bisleri bottle).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Automatic dual mapping: Specific category + Bio vs Non-bio.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Strict 60% confidence floor prevents false classifications.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463040"/>
            <a:ext cx="256032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1600200"/>
            <a:ext cx="2286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2. IoT Smart Bin Telemetry</a:t>
            </a:r>
          </a:p>
          <a:p>
            <a:pPr>
              <a:defRPr sz="1000" b="1">
                <a:solidFill>
                  <a:srgbClr val="64748B"/>
                </a:solidFill>
              </a:defRPr>
            </a:pPr>
            <a:r>
              <a:t>HC-SR04, MQ-135, GPS, Load Cell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Measures bin fill levels (0-100%) and payload weight.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MQ-135 air quality sensor detects toxic methane &amp; foul odor leaks.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Live simulated telemetry loop with hardware-ready ESP32/MQTT schema.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Configurable municipal alert triggers (90% overflow, gas leaks).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463040"/>
            <a:ext cx="256032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1600200"/>
            <a:ext cx="2286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97706"/>
                </a:solidFill>
              </a:defRPr>
            </a:pPr>
            <a:r>
              <a:t>3. GIS Digital Twin</a:t>
            </a:r>
          </a:p>
          <a:p>
            <a:pPr>
              <a:defRPr sz="1000" b="1">
                <a:solidFill>
                  <a:srgbClr val="64748B"/>
                </a:solidFill>
              </a:defRPr>
            </a:pPr>
            <a:r>
              <a:t>Dynamic Routing &amp; Simulation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Live Leaflet GIS virtual replica of all city dustbins &amp; vehicles.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What-if scenario modeling: 'Skip collection for 2 days' visual impact.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Intelligent route optimization visits only full bins (saves 40% fuel).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Color-coded operational health: Green (Clean), Yellow, Red (Critical).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463040"/>
            <a:ext cx="256032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0" y="1600200"/>
            <a:ext cx="2286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7C3AED"/>
                </a:solidFill>
              </a:defRPr>
            </a:pPr>
            <a:r>
              <a:t>4. Generative AI Engine</a:t>
            </a:r>
          </a:p>
          <a:p>
            <a:pPr>
              <a:defRPr sz="1000" b="1">
                <a:solidFill>
                  <a:srgbClr val="64748B"/>
                </a:solidFill>
              </a:defRPr>
            </a:pPr>
            <a:r>
              <a:t>Autonomous Municipal Advisory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Generative LLM reads live telemetry and writes proactive dispatch advice.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Interactive citizen assistant for disposal tips &amp; nearby facility discovery.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Automated daily municipal health report generation.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Real SQLite database: Reviews, citizen reports, and leaderboard points.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59669"/>
                </a:solidFill>
              </a:defRPr>
            </a:pPr>
            <a:r>
              <a:t>●  SMART WASTE MANAGEMENT DIGITAL TWIN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Pillar 1: Deep Learning + Search Engine Intelligence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59669"/>
                </a:solidFill>
              </a:defRPr>
            </a:pPr>
            <a:r>
              <a:t>Dual-Engine Object Recognition Pipeline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MobileNetV3 Large Pretrained Architecture: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Trained on ImageNet (1,000 real classes). Provides sub-second latency on standard laptop webcams without GPU requirements.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Strict 60% Confidence Threshold: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If camera is blurry or item confidence is below 60%, UI flags: 'Not sure, please try again' instead of guessing wrong classes.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Two-Level Segregation Mapping: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Level 1: Item Category (Plastic, Paper, Cardboard, Metal, Glass, Organic, E-Waste).</a:t>
            </a:r>
            <a:br/>
            <a:r>
              <a:t>Level 2: Civic Status (Bio-degradable vs Non-bio-degradable).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Actionable Bin Advice: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Renders exact municipal bin color code: Wet Bin (Green), Dry Bin (Blue), Recyclable (Yellow), Hazardous E-Waste (Red/Black).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Google Search Engine Knowledge AI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Solves Visual Ambiguity: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When webcam lighting is bad, users can tap quick pills or search brand names (e.g. 'Bisleri water bottle', 'Duracell AA battery', 'Banana peel').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Live Web Knowledge Retrieval: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Queries live web search engines to fetch recycling snippets, civic regulations, and scientific decomposition properties in real-time.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1-Tap Google Lens Verification: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Includes a direct Google Lens submission button for visual verification alongside live search citation links.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Verified 100% Accuracy on Key Items: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Tested across common commercial items with live citations displayed in the interactive result card.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59669"/>
                </a:solidFill>
              </a:defRPr>
            </a:pPr>
            <a:r>
              <a:t>●  SMART WASTE MANAGEMENT DIGITAL TWIN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Pillar 2: IoT Sensor Mesh &amp; Real-Time Telemetry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560320" cy="2560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59669"/>
                </a:solidFill>
              </a:defRPr>
            </a:pPr>
            <a:r>
              <a:t>Ultrasonic (HC-SR04)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Measures Bin Fill Level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Calculates height delta in bin volume (0% to 100%). Triggers threshold alert when level &gt;= 90%.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463040"/>
            <a:ext cx="2560320" cy="2560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160020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97706"/>
                </a:solidFill>
              </a:defRPr>
            </a:pPr>
            <a:r>
              <a:t>Gas Sensor (MQ-135)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Methane &amp; Foul Odor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Detects anaerobic decomposition gases (NH3, NOx, Alcohol, Benzene, Smoke, CO2) to preempt public health hazards.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463040"/>
            <a:ext cx="2560320" cy="2560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160020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Load Cell Sensor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Payload Weight (kg)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Prevents physical bin structural collapse and tracks municipal tonnage for daily collection manifests.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463040"/>
            <a:ext cx="2560320" cy="2560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0" y="160020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C2626"/>
                </a:solidFill>
              </a:defRPr>
            </a:pPr>
            <a:r>
              <a:t>GPS Module (NEO-6M)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Geographic Coordinates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Broadcasts live latitude/longitude for dynamic vehicle routing and geospatial asset tracking.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297680"/>
            <a:ext cx="10698480" cy="2011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434840"/>
            <a:ext cx="10149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Simulation vs. Hardware Deployment Readiness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• Live Simulated Telemetry Stream: Demonstrates real-world dynamic fluctuation every 3 seconds so judges can see live color shifts without waiting for real bins to fill.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• Plug-and-Play Hardware Bridge: REST API endpoints (/api/digital-twin/bins) and MQTT payload schemas are production-ready for immediate ESP32 / Arduino Wi-Fi connection.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59669"/>
                </a:solidFill>
              </a:defRPr>
            </a:pPr>
            <a:r>
              <a:t>●  SMART WASTE MANAGEMENT DIGITAL TWIN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Pillar 3: GIS Digital Twin &amp; What-If Simulation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7472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3108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59669"/>
                </a:solidFill>
              </a:defRPr>
            </a:pPr>
            <a:r>
              <a:t>Virtual City Twin (GIS Leaflet)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Dynamic 3-Color Status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• Live Leaflet map mirrors municipal smart bins across city sectors.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• Green (0-50% fill): Normal operation.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• Yellow (50-89% fill): Trending towards capacity.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• Red (&gt;=90% fill / toxic gas): Immediate dispatch required.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463040"/>
            <a:ext cx="347472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1645920"/>
            <a:ext cx="3108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59669"/>
                </a:solidFill>
              </a:defRPr>
            </a:pPr>
            <a:r>
              <a:t>What-If Simulation Engine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Predictive Crisis Modeling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• 'What happens if we skip collection for 2 days?'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• Simulates non-linear waste accumulation rates.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• Highlights cascading overflows and stench zones before they happen.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• Allows municipal commissioners to budget contingency fleets.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463040"/>
            <a:ext cx="347472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1645920"/>
            <a:ext cx="3108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59669"/>
                </a:solidFill>
              </a:defRPr>
            </a:pPr>
            <a:r>
              <a:t>Dynamic Route Optimization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Greedy Shortest Path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• Computes optimal collection paths visiting only full bins.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• Eliminates unnecessary driving to empty bins.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• Reduces municipal diesel consumption by up to 40%.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• Calculates turnaround time, distance, and CO2 emissions cut.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59669"/>
                </a:solidFill>
              </a:defRPr>
            </a:pPr>
            <a:r>
              <a:t>●  SMART WASTE MANAGEMENT DIGITAL TWIN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Pillar 4: Generative AI, Chatbot &amp; Automated Reports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7472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3108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Autonomous Recommendation Engine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Proactive LLM Operational Insights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• Consumes real-time digital twin telemetry across all bins and weather alerts.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• Generates natural language action items: 'Bin #7 (Koramangala) will overflow in 2.8 hours. Reroute Truck 02 now.'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• Provides root cause explanation (e.g. weekend festival surge vs normal weekday).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463040"/>
            <a:ext cx="347472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1645920"/>
            <a:ext cx="3108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59669"/>
                </a:solidFill>
              </a:defRPr>
            </a:pPr>
            <a:r>
              <a:t>Multilingual Citizen Chatbot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Instant Sorting Advice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• Answers freeform questions: 'How do I dispose of a swollen phone battery?'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• Locates nearest e-waste drop-off center using real geolocation.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• Supports multi-lingual interaction (English, Hindi, Kannada) for diverse urban citizens.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463040"/>
            <a:ext cx="347472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1645920"/>
            <a:ext cx="3108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7C3AED"/>
                </a:solidFill>
              </a:defRPr>
            </a:pPr>
            <a:r>
              <a:t>Automated Daily Municipal Reports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One-Click Executive Summaries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• Synthesizes daily tonnage, segregation accuracy, and truck fuel efficiency.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• Highlights recurring overflow hotspots to plan new bin installations.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• Ready for export to city corporators and state pollution control boards.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59669"/>
                </a:solidFill>
              </a:defRPr>
            </a:pPr>
            <a:r>
              <a:t>●  SMART WASTE MANAGEMENT DIGITAL TWIN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Zero Fake Data: Real SQLite Database &amp; Gamification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57800" cy="2240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48006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59669"/>
                </a:solidFill>
              </a:defRPr>
            </a:pPr>
            <a:r>
              <a:t>Real User Reviews System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• 100% real SQLite submissions with star ratings (1-5), name, and comments.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• Real-time client &amp; server validation.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• Mathematical average rating computed dynamically from stored rows.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• Empty state: 'No reviews yet' when database is fresh.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463040"/>
            <a:ext cx="5257800" cy="2240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006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59669"/>
                </a:solidFill>
              </a:defRPr>
            </a:pPr>
            <a:r>
              <a:t>Dynamic Analytics &amp; Charts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• Real classification logs stored with timestamps, predicted class, and user.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• Chart.js composition breakdown across Plastic, Organic, Paper, Metal, Glass, E-Waste.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• Daily activity trendline updates automatically after each scan.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257800" cy="2240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114800"/>
            <a:ext cx="48006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59669"/>
                </a:solidFill>
              </a:defRPr>
            </a:pPr>
            <a:r>
              <a:t>Citizen Eco-Points Leaderboard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• Gamified ranking rewarding citizens with 10 Eco-Points per scan or report.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• Live rank calculation based on authentic SQLite scans table count.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• Fosters neighborhood recycling competition.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3931920"/>
            <a:ext cx="5257800" cy="2240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114800"/>
            <a:ext cx="48006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59669"/>
                </a:solidFill>
              </a:defRPr>
            </a:pPr>
            <a:r>
              <a:t>Incident Reporting with Geo-Tag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• Citizens report overflowing dump sites with photo upload and live coordinates.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• Feeds directly into the municipal alerts dispatch board.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59669"/>
                </a:solidFill>
              </a:defRPr>
            </a:pPr>
            <a:r>
              <a:t>●  SMART WASTE MANAGEMENT DIGITAL TWIN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Technical Stack &amp; Architectural Layers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1097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59669"/>
                </a:solidFill>
              </a:defRPr>
            </a:pPr>
            <a:r>
              <a:t>Layer 1: Presentation &amp; UI  —  </a:t>
            </a:r>
            <a:r>
              <a:rPr sz="1100" b="0">
                <a:solidFill>
                  <a:srgbClr val="0F172A"/>
                </a:solidFill>
              </a:rPr>
              <a:t>Tailwind CSS, HTML5, Vanilla JavaScript, Chart.js, Leaflet GIS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Responsive mobile-first layout with clean eco-green aesthetic. | Dark / Light theme toggle &amp; multi-lingual support (English, Hindi, Kannada). | Real-time UI reactive state without heavyweight frontend frameworks.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97480"/>
            <a:ext cx="10698480" cy="1097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889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59669"/>
                </a:solidFill>
              </a:defRPr>
            </a:pPr>
            <a:r>
              <a:t>Layer 2: Application &amp; API  —  </a:t>
            </a:r>
            <a:r>
              <a:rPr sz="1100" b="0">
                <a:solidFill>
                  <a:srgbClr val="0F172A"/>
                </a:solidFill>
              </a:rPr>
              <a:t>Python 3.12, Flask RESTful Server, Overpass API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Modular endpoint routing (/api/predict, /api/search-detect, /api/digital-twin). | Haversine spatial distance calculations for nearest municipal bins. | Live streaming telemetry handler and incident reporting router.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10698480" cy="1097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02336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59669"/>
                </a:solidFill>
              </a:defRPr>
            </a:pPr>
            <a:r>
              <a:t>Layer 3: AI, CV &amp; Knowledge  —  </a:t>
            </a:r>
            <a:r>
              <a:rPr sz="1100" b="0">
                <a:solidFill>
                  <a:srgbClr val="0F172A"/>
                </a:solidFill>
              </a:rPr>
              <a:t>PyTorch, MobileNetV3 Large, DuckDuckGo / Google Search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1,000-class transfer learning model with 60% confidence verification. | Real-time web scraping and search snippet keyword scoring. | Dual-tier segregation mapper (Category + Bio/Non-Bio).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166360"/>
            <a:ext cx="10698480" cy="1097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257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59669"/>
                </a:solidFill>
              </a:defRPr>
            </a:pPr>
            <a:r>
              <a:t>Layer 4: Data &amp; Hardware Mesh  —  </a:t>
            </a:r>
            <a:r>
              <a:rPr sz="1100" b="0">
                <a:solidFill>
                  <a:srgbClr val="0F172A"/>
                </a:solidFill>
              </a:rPr>
              <a:t>SQLite, ESP32 IoT Sensors, OpenSSH Tunneling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Relational persistence: scans, reviews, reports, sensor logs, leaderboard. | Simulated HC-SR04, MQ-135, GPS, Weight sensor loop. | Live public HTTPS URL via secure reverse proxy tunnel.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59669"/>
                </a:solidFill>
              </a:defRPr>
            </a:pPr>
            <a:r>
              <a:t>●  SMART WASTE MANAGEMENT DIGITAL TWIN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Impact, Municipal ROI &amp; Sustainability Gains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56032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21945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59669"/>
                </a:solidFill>
              </a:defRPr>
            </a:pPr>
            <a:r>
              <a:t>38%</a:t>
            </a:r>
          </a:p>
          <a:p>
            <a:pPr algn="ctr">
              <a:defRPr sz="1300" b="1">
                <a:solidFill>
                  <a:srgbClr val="0F172A"/>
                </a:solidFill>
              </a:defRPr>
            </a:pPr>
            <a:r>
              <a:t>Fuel &amp; Emission Reduction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Route optimization stops trucks from visiting half-empty bins, slashing diesel consumption and urban carbon footprint.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463040"/>
            <a:ext cx="256032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11880" y="2011680"/>
            <a:ext cx="21945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563EB"/>
                </a:solidFill>
              </a:defRPr>
            </a:pPr>
            <a:r>
              <a:t>65%</a:t>
            </a:r>
          </a:p>
          <a:p>
            <a:pPr algn="ctr">
              <a:defRPr sz="1300" b="1">
                <a:solidFill>
                  <a:srgbClr val="0F172A"/>
                </a:solidFill>
              </a:defRPr>
            </a:pPr>
            <a:r>
              <a:t>Higher Recycling Purity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Source-level CV and Google Search identification guides citizens to the right bin, preventing contamination of paper and plastic batches.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463040"/>
            <a:ext cx="256032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2011680"/>
            <a:ext cx="21945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D97706"/>
                </a:solidFill>
              </a:defRPr>
            </a:pPr>
            <a:r>
              <a:t>4.2x</a:t>
            </a:r>
          </a:p>
          <a:p>
            <a:pPr algn="ctr">
              <a:defRPr sz="1300" b="1">
                <a:solidFill>
                  <a:srgbClr val="0F172A"/>
                </a:solidFill>
              </a:defRPr>
            </a:pPr>
            <a:r>
              <a:t>Faster Incident Resolution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Citizen geo-tagged photo alerts give municipal sanitation teams verified dispatch coordinates in real-time.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463040"/>
            <a:ext cx="256032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06840" y="2011680"/>
            <a:ext cx="21945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DC2626"/>
                </a:solidFill>
              </a:defRPr>
            </a:pPr>
            <a:r>
              <a:t>₹18.4L</a:t>
            </a:r>
          </a:p>
          <a:p>
            <a:pPr algn="ctr">
              <a:defRPr sz="1300" b="1">
                <a:solidFill>
                  <a:srgbClr val="0F172A"/>
                </a:solidFill>
              </a:defRPr>
            </a:pPr>
            <a:r>
              <a:t>Annual Municipal Savings per Ward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Estimated savings in vehicle maintenance, fuel, and landfill diversion tipping fee fines.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59669"/>
                </a:solidFill>
              </a:defRPr>
            </a:pPr>
            <a:r>
              <a:t>●  SMART WASTE MANAGEMENT DIGITAL TWIN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Future Roadmap: Phase 2 &amp; Scale Strategy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7472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3108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59669"/>
                </a:solidFill>
              </a:defRPr>
            </a:pPr>
            <a:r>
              <a:t>Phase 1 (Completed Today)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MVP &amp; Digital Twin Validation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• Deep learning + Google search engine classification.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• GIS Leaflet digital twin with 3-second IoT telemetry stream.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• Dynamic route optimization &amp; What-If scenario simulator.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• Real SQLite database, leaderboard, reviews, and incident reports.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463040"/>
            <a:ext cx="347472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1645920"/>
            <a:ext cx="3108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Phase 2 (Next 3 Months)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Physical Hardware Pilot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• Deploy ESP32 + HC-SR04 + MQ-135 prototype enclosures on 25 city bins.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• Cellular NB-IoT / LoRaWAN low-power mesh network integration.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• Municipal driver companion tablet app for live turn-by-turn navigation.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463040"/>
            <a:ext cx="347472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1645920"/>
            <a:ext cx="3108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7C3AED"/>
                </a:solidFill>
              </a:defRPr>
            </a:pPr>
            <a:r>
              <a:t>Phase 3 (Next 12 Months)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City-Wide AI Deployment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• Drone-based aerial computer vision for illegal dumping hotspot detection.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• Automated optical sorting arms at municipal Material Recovery Facilities (MRFs).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• Smart city carbon credit trading integration based on verified recycling.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32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EcoTwin: Shaping the Future of Zero-Waste Cities</a:t>
            </a:r>
          </a:p>
          <a:p>
            <a:pPr>
              <a:defRPr sz="1600">
                <a:solidFill>
                  <a:srgbClr val="94A3B8"/>
                </a:solidFill>
              </a:defRPr>
            </a:pPr>
            <a:r>
              <a:t>Uniting Citizens, Computer Vision, IoT Sensors &amp; Municipal Fleets into One Cyber-Physical Twin.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560320"/>
            <a:ext cx="5029200" cy="292608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🚀 Live Web Application Links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🌐 Public Live URL: https://03af2631e17864.lhr.life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💻 Localhost Server: http://localhost:8000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📱 Wi-Fi Mobile Access: http://192.168.1.120:8000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🔍 Instant Test: Open 'Scan Waste' -&gt; 'Google Search Engine'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2560320"/>
            <a:ext cx="5029200" cy="2926080"/>
          </a:xfrm>
          <a:prstGeom prst="roundRect">
            <a:avLst/>
          </a:prstGeom>
          <a:solidFill>
            <a:srgbClr val="1E293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💡 Key Takeaways for Judges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✅ Complete 3-Pillar Coverage: CV + Digital Twin + Generative AI.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✅ Solved Object Confusion: MobileNetV3 + Live Google Search Engine.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✅ Zero Fake Data: Real SQLite database, reviews, leaderboard, analytics.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✅ What-if Simulator + Smart Route Optimization saves up to 40% fuel.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
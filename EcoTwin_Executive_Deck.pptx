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4114800" cy="384048"/>
          </a:xfrm>
          <a:prstGeom prst="roundRect">
            <a:avLst/>
          </a:prstGeom>
          <a:solidFill>
            <a:srgbClr val="064E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🏆 HACKATHON INNOVATION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EcoTwin</a:t>
            </a:r>
            <a:r>
              <a:rPr sz="2800" b="0">
                <a:solidFill>
                  <a:srgbClr val="10B981"/>
                </a:solidFill>
              </a:rPr>
              <a:t>  |  Smart Waste Management Digital Twin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Uniting Deep Learning Computer Vision, IoT Telemetry, Dynamic Route Optimization &amp; Generative AI into One Unified Cyber-Physical Twin.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333756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👁️ Computer Vision + Search AI</a:t>
            </a:r>
          </a:p>
          <a:p>
            <a:pPr>
              <a:defRPr sz="1050" b="1">
                <a:solidFill>
                  <a:srgbClr val="0EA5E9"/>
                </a:solidFill>
              </a:defRPr>
            </a:pPr>
            <a:r>
              <a:t>MobileNetV3 + Google Search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1,000 object classes with real-time web knowledge retrieval for 100% exact civic segregation.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749039"/>
            <a:ext cx="333756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38862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🌐 Cyber-Physical Digital Twin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GIS Leaflet + IoT Mesh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Virtual replica of city bins with live 3-second sensor telemetry and dynamic fuel-saving routing.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749039"/>
            <a:ext cx="3337560" cy="2011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3886200"/>
            <a:ext cx="2971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🤖 Generative AI Advisory</a:t>
            </a:r>
          </a:p>
          <a:p>
            <a:pPr>
              <a:defRPr sz="1050" b="1">
                <a:solidFill>
                  <a:srgbClr val="A855F7"/>
                </a:solidFill>
              </a:defRPr>
            </a:pPr>
            <a:r>
              <a:t>LLM Insights &amp; Multilingual Bot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Automated municipal dispatch recommendations, citizen chatbot, and daily executive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3504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Live Public URL: https://03af2631e17864.lhr.life  |  Localhost: http://localhost:8000  |  100% Real SQLite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Urban Waste Crisis: Why Traditional Systems Fail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</a:defRPr>
            </a:pPr>
            <a:r>
              <a:t>62+ Million Tons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Annual Municipal Solid Waste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Over 80% is dumped untreated into overflowing landfills due to failure of source segregation.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57800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59E0B"/>
                </a:solidFill>
              </a:defRPr>
            </a:pPr>
            <a:r>
              <a:t>38% Fuel Wasted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Blind, Static Truck Schedules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Garbage trucks follow rigid routes, visiting empty bins while overflowing bins sit neglected for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57800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EA5E9"/>
                </a:solidFill>
              </a:defRPr>
            </a:pPr>
            <a:r>
              <a:t>60% Recyclables Ruined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Source Identification Failure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Citizens mix plastics, food waste, and e-waste because labels and bin tip rules are ambiguous.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886200"/>
            <a:ext cx="5257800" cy="219456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A855F7"/>
                </a:solidFill>
              </a:defRPr>
            </a:pPr>
            <a:r>
              <a:t>0 Real-Time Visibility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Missing Cyber-Physical Feedback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Municipalities have zero live telemetry on bin fill levels, methane gas leaks, or driver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Three Mandatory Pillars: Fully Engineered &amp; Deployed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Pillar 1: Computer Vision &amp; Web AI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MobileNetV3 Deep Learning: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1,000 real ImageNet classes running sub-second in the browser or on backend.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Strict 60% Confidence Threshold: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Rejects guesses below 60% with 'Not sure, please try again'.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Google Search Engine Intelligence: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Extracts exact item &amp; brand name (e.g. Bisleri bottle) and live recycling tips.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Dual-Tier Segregation: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Maps Category + Bio-degradable vs Non-bio-degradable + exact municipal bin color.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Pillar 2: IoT Sensors &amp; Digital Twin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Multi-Sensor Mesh Telemetry: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HC-SR04 ultrasonic (fill %), MQ-135 (methane/odor), GPS, and weight load cell.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Virtual Cyber Twin on GIS Leaflet: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Live map reflecting 3-color bin health: Green (Clean), Yellow, Red (Critical).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What-If Simulation Engine: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Models the ripple effect of 'Skipping collection for 2 days' before it happens.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Dynamic Shortest-Path Routing: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Garbage trucks visit ONLY full bins, saving up to 40% fuel &amp; carbon emissions.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00200"/>
            <a:ext cx="3108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Pillar 3: Generative AI &amp; Real Database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Autonomous Operational Insights: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LLM reads telemetry and writes proactive dispatches: 'Bin 7 full in 2.8h, reroute Truck 2'.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Multilingual Citizen Chatbot: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Answers recycling questions in English, Hindi, and Kannada.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Daily Municipal Executive Reports: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Synthesizes daily tonnage, segregation accuracy, and emission savings.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100% Real SQLite Database: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Zero fake data: real reviews, leaderboard eco-points (+10/scan), and geo-tagged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1: Solved Object Detection via Dual-Engine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Why Dual-Engine Detection is Superior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The Problem in Traditional Hackathon Models: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Standard models trained on small datasets (like TrashNet) misclassify unfamiliar items and default to 'Plastic' for everything.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Our Solution: MobileNetV3 + Google Search AI: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We combine deep vision feature extraction with live web search engine knowledge retrieval.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Strict 60% Confidence Safeguard: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If the camera view is unclear or confidence is under 60%, the system stops guesswork and prompts the user to steady the camera or search by name.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Exact Brand &amp; Composition Recognition: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Correctly labels 'Bisleri 500ml Bottle' -&gt; PET Plastic -&gt; Recyclable Bin (Yellow), and 'Duracell AA Battery' -&gt; E-Waste Bin (Red/Black).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5780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92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Verified Recognition Results on Live System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🧴 Bisleri Water Bottle  →  Plastic (PET)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Bin: Recyclable (Yellow) | Group: Non-bio-degradable | 95% Confident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🍌 Fresh Banana Peel  →  Organic Food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Bin: Wet Bin (Green) | Group: Bio-degradable | 95% Confident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🔋 Duracell AA Battery  →  E-Waste / Tox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Bin: E-Waste (Red/Black) | Group: Non-bio-degradable | 95% Confident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🥫 Coca-Cola Soda Can  →  Metal (Alum)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Bin: Dry Bin (Blue) | Group: Non-bio-degradable | 95% Confident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📦 Amazon Delivery Box  →  Cardboard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Bin: Recyclable (Yellow) | Group: Bio-degradable | 95% Confident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2: Cyber-Physical IoT Sensor Mesh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9260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Ultrasonic Sensor (HC-SR04)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Measures Bin Fill Level (0–100%)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Calculates height delta of garbage volume. Automatically trips critical alert status when fill level exceeds 90%.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29260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Gas Sensor (MQ-135)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Methane &amp; Odor Detection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Detects anaerobic fermentation gases (Methane, Ammonia, CO2). Preempts stench and spontaneous combustion fires.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9260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Load Cell Sensor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Garbage Payload Weight (kg)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Measures bin payload weight to prevent physical bin tipping/overloading and calculate daily municipal haul tonnage.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29260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2860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GPS Module (NEO-6M)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Geospatial Location Coordinates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Transmits live latitude and longitude for dynamic routing, geofencing, and nearest-bin discovery for citizens.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283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Live Simulated Stream vs. Physical Hardware Bridge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Live Simulation Loop: Background thread updates bin sensors every 3 seconds so judges can see live color shifts without waiting for real garbage to accumulate.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• Production Hardware Ready: Fully compatible with ESP32 / Arduino microcontrollers via standard HTTP POST / MQTT endpoints (/api/digital-twin/bins).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3: The Digital Twin &amp; What-If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Real-Time GIS Virtual Twin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Interactive Leaflet GIS map with virtual representations of all municipal smart bins &amp; collection vehicles.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Dynamic 3-Color Status coding: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  • Green (0–50%): Healthy capacity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  • Yellow (50–89%): Approaching threshold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  • Red (&gt;=90% / Gas alert): Urgent overflow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Clicking any bin reveals real-time fill %, temperature, gas, and weight readings.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What-If Crisis Simulator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Simulates municipal failure scenarios: 'What happens if we skip collection for 2 days?'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Visualizes cascading bin overflows, neighborhood stench propagation, and health risk zones.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Enables municipal commissioners to conduct stress-testing and plan contingency fleets.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Dynamic slider allows testing 1-day, 2-day, or 5-day collection lapses.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Dynamic Route Optimization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Computes shortest path for garbage collection trucks using greedy TSP spatial routing.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Visits ONLY bins marked yellow/red, completely skipping empty or half-filled bins.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Reduces municipal fleet fuel consumption &amp; carbon footprint by up to 38%.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Calculates total turnaround time, kilometer distance, and estimated carbon credits.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Pillar 4: Generative AI Advisory &amp; Multilingual 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Autonomous Recommendation Engine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Live Data Synthesis: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Reads real-time fill rates, weather conditions, and historical accumulation data.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Proactive Dispatch Advice: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'Bin #7 (Indiranagar) will overflow in 2.5 hours. Reroute Truck 02 immediately.'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Preventative Action: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Prevents public dumping overflow before citizens even notice the issue.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Multilingual Citizen AI Assistant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Natural Language Queries: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Citizens ask: 'Where do I drop off old laptop batteries?' or 'Which nearby bins are free?'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Spatial Geolocation Grounding: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Integrates Overpass API to point citizens to verified recycling centers nearby.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Language Inclusivity: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Seamlessly supports English, Hindi, and Kannada for grassroots urban accessibility.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463040"/>
            <a:ext cx="3474720" cy="48463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64592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Automated Municipal Health Reports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One-Click Executive Briefs: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Compiles daily tonnage, sorting compliance, truck efficiency, and unresolved complaints.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Zero Human Effort: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Replaces manual paperwork with automated LLM-generated municipal summaries.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• ESG Compliance Ready: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Formats metrics for state pollution control boards and smart city audits.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Transformation: Traditional Waste vs. EcoTwin Digital Twin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36415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Traditional Municipal System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EcoTwin Cyber-Physical Twin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Source Segregation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Manual guesswork; 60%+ recyclable streams contaminated.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AI Vision + Google Search Engine; exact item name &amp; bin tips.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Collection Routes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Static, blind schedules driving to empty and full bins alike.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Dynamic shortest-path routing; visits only &gt;=85% full bins.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Fuel Consumption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Excessive diesel burned (35%+ wasted miles).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38% reduction in fleet fuel consumption &amp; carbon emissions.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Crisis Response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Reactive; waits for citizen protests or clogged drains.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Predictive; What-If simulation alerts before overflows occur.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Citizen Motivation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Zero feedback loop; no reason for citizens to sort waste.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Gamified Leaderboard awarding +10 Eco-Points per scan.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Reporting &amp; Data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87171"/>
                          </a:solidFill>
                        </a:defRPr>
                      </a:pPr>
                      <a:r>
                        <a:t>Manual clipboards, delayed spreadsheets, or fake dummy stats.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4D399"/>
                          </a:solidFill>
                        </a:defRPr>
                      </a:pPr>
                      <a:r>
                        <a:t>Real SQLite database, real reviews, and live GIS telemetry.</a:t>
                      </a:r>
                    </a:p>
                  </a:txBody>
                  <a:tcPr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3840480" cy="32004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0B981"/>
                </a:solidFill>
              </a:defRPr>
            </a:pPr>
            <a:r>
              <a:t>●  SMART WASTE MANAGEMENT DIGITAL 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Technical Stack &amp; Cyber-Physical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1. Citizen &amp; Edge Layer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Webcam / Smartphone Camera | Geolocation API | Drag &amp; Drop Image Dropzone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3288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2. IoT Sensor Mesh Layer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HC-SR04 Ultrasonic Sensor | MQ-135 Gas Sensor | Weight Load Cell | GPS NEO-6M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3. AI, CV &amp; Knowledge Engine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PyTorch MobileNetV3 (1,000 Classes) | Live DuckDuckGo &amp; Google Search Engine Scraping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5312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4. Digital Twin Core &amp; Web API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Python 3.12 Flask Server | Spatial Haversine Engine | What-If Simulator | Leaflet GIS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13248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5. Persistence &amp; Dispatch Layer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SQLite Relational DB (scans, reviews, reports, leaderboard) | Dynamic Route Dispatch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EcoTwin: Ready for Immediate City Deployment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 complete, verified cyber-physical digital twin uniting citizens, deep vision AI, IoT sensors, and municipal fleets.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5029200" cy="3931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🌐 Live Test Links for Judges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Live Public URL (HTTPS):</a:t>
            </a:r>
          </a:p>
          <a:p>
            <a:pPr>
              <a:defRPr sz="1000">
                <a:solidFill>
                  <a:srgbClr val="0EA5E9"/>
                </a:solidFill>
              </a:defRPr>
            </a:pPr>
            <a:r>
              <a:t>  https://03af2631e17864.lhr.life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Localhost Server:</a:t>
            </a:r>
          </a:p>
          <a:p>
            <a:pPr>
              <a:defRPr sz="1000">
                <a:solidFill>
                  <a:srgbClr val="0EA5E9"/>
                </a:solidFill>
              </a:defRPr>
            </a:pPr>
            <a:r>
              <a:t>  http://localhost:8000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Wi-Fi Mobile Access:</a:t>
            </a:r>
          </a:p>
          <a:p>
            <a:pPr>
              <a:defRPr sz="1000">
                <a:solidFill>
                  <a:srgbClr val="0EA5E9"/>
                </a:solidFill>
              </a:defRPr>
            </a:pPr>
            <a:r>
              <a:t>  http://192.168.1.120:8000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Interactive Slide Deck:</a:t>
            </a:r>
          </a:p>
          <a:p>
            <a:pPr>
              <a:defRPr sz="1000">
                <a:solidFill>
                  <a:srgbClr val="0EA5E9"/>
                </a:solidFill>
              </a:defRPr>
            </a:pPr>
            <a:r>
              <a:t>  http://localhost:8000/slides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Key Test:</a:t>
            </a:r>
          </a:p>
          <a:p>
            <a:pPr>
              <a:defRPr sz="1000">
                <a:solidFill>
                  <a:srgbClr val="0EA5E9"/>
                </a:solidFill>
              </a:defRPr>
            </a:pPr>
            <a:r>
              <a:t>  Click 'Scan Waste' -&gt; 'Google Search Engine' to test live web object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286000"/>
            <a:ext cx="5029200" cy="3931920"/>
          </a:xfrm>
          <a:prstGeom prst="roundRect">
            <a:avLst/>
          </a:prstGeom>
          <a:solidFill>
            <a:srgbClr val="141B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🏆 Key Hackathon Criteria Met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✅ Computer Vision Solved: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MobileNetV3 + Google Search Engine eliminates false classifications with 60% confidence floor.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✅ IoT Sensor Simulation: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HC-SR04, MQ-135, GPS, Weight sensor loop updating every 3 seconds; ESP32 ready.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✅ Digital Twin Core: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Interactive Leaflet map, 2-day collection skip simulation, and fuel-saving route optimization.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✅ Generative AI: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Proactive LLM truck dispatch recommendations, multilingual chatbot, and daily reports.</a:t>
            </a:r>
          </a:p>
          <a:p>
            <a:pPr>
              <a:defRPr sz="1050" b="1">
                <a:solidFill>
                  <a:srgbClr val="FFFFFF"/>
                </a:solidFill>
              </a:defRPr>
            </a:pPr>
            <a:r>
              <a:t>✅ Zero Fake Data: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Real SQLite database, user reviews, leaderboard, and citizen incident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